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96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Classical mathematics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Classical</c:v>
                </c:pt>
              </c:strCache>
            </c:strRef>
          </c:tx>
          <c:spPr>
            <a:ln w="31750">
              <a:solidFill>
                <a:srgbClr val="2563BE"/>
              </a:solidFill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5</c:v>
                </c:pt>
                <c:pt idx="2">
                  <c:v>13</c:v>
                </c:pt>
                <c:pt idx="3">
                  <c:v>25</c:v>
                </c:pt>
                <c:pt idx="4">
                  <c:v>41</c:v>
                </c:pt>
                <c:pt idx="5">
                  <c:v>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E2B-4256-8411-A4CDC6C181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x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65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/>
                  <a:t>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  <c:majorUnit val="1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Pacifique proposed method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Pacifique</c:v>
                </c:pt>
              </c:strCache>
            </c:strRef>
          </c:tx>
          <c:spPr>
            <a:ln w="31750">
              <a:solidFill>
                <a:srgbClr val="117952"/>
              </a:solidFill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13</c:v>
                </c:pt>
                <c:pt idx="3">
                  <c:v>25</c:v>
                </c:pt>
                <c:pt idx="4">
                  <c:v>41</c:v>
                </c:pt>
                <c:pt idx="5">
                  <c:v>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119-4B39-BB73-1251DFFDAD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x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65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/>
                  <a:t>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  <c:majorUnit val="1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74519"/>
          </a:xfrm>
          <a:prstGeom prst="rect">
            <a:avLst/>
          </a:prstGeom>
          <a:solidFill>
            <a:srgbClr val="0F2A4E"/>
          </a:solidFill>
          <a:ln>
            <a:solidFill>
              <a:srgbClr val="0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1078992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PACIFIQUE MATHEMATICAL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1033272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Aptos"/>
              </a:rPr>
              <a:t>A Preservation-Based Framework for Zero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744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697480"/>
            <a:ext cx="99669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 dirty="0">
                <a:solidFill>
                  <a:srgbClr val="117952"/>
                </a:solidFill>
                <a:latin typeface="Aptos"/>
              </a:rPr>
              <a:t>REVISED PRESENTATION •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182112"/>
            <a:ext cx="1005840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700" b="1">
                <a:solidFill>
                  <a:srgbClr val="0F2A4E"/>
                </a:solidFill>
                <a:latin typeface="Aptos"/>
              </a:rPr>
              <a:t>“Zero operations preserve quantity”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28032"/>
            <a:ext cx="1033272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232D3A"/>
                </a:solidFill>
                <a:latin typeface="Aptos"/>
              </a:rPr>
              <a:t>Prepared by: Pacifique TUYISENGE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332720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0" dirty="0">
                <a:solidFill>
                  <a:srgbClr val="5F6C7B"/>
                </a:solidFill>
                <a:latin typeface="Aptos"/>
              </a:rPr>
              <a:t>University of Rwanda • College of Science and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5F6C7B"/>
                </a:solidFill>
                <a:latin typeface="Aptos"/>
              </a:rPr>
              <a:t>Energy / Mathematical research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F6C7B"/>
                </a:solidFill>
                <a:latin typeface="Aptos"/>
              </a:rPr>
              <a:t>Pacifique Mathematical Law (2026)  •  Proposed framework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A4E"/>
          </a:solidFill>
          <a:ln>
            <a:solidFill>
              <a:srgbClr val="0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1129284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1.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06424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5F6C7B"/>
                </a:solidFill>
                <a:latin typeface="Aptos"/>
              </a:rPr>
              <a:t>The central idea and the scope of this proposed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3429000"/>
          </a:xfrm>
          <a:prstGeom prst="roundRect">
            <a:avLst/>
          </a:prstGeom>
          <a:solidFill>
            <a:srgbClr val="F2F7FC"/>
          </a:solidFill>
          <a:ln>
            <a:solidFill>
              <a:srgbClr val="CF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0060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200" b="1">
                <a:solidFill>
                  <a:srgbClr val="2563BE"/>
                </a:solidFill>
                <a:latin typeface="Aptos"/>
              </a:rPr>
              <a:t>Classical mathematics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663440" cy="2194560"/>
          </a:xfrm>
          <a:prstGeom prst="rect">
            <a:avLst/>
          </a:prstGeom>
          <a:noFill/>
        </p:spPr>
        <p:txBody>
          <a:bodyPr wrap="square" lIns="109728" tIns="73152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Division by zero is undefined in ordinary arithmetic.</a:t>
            </a:r>
          </a:p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Multiplication by zero gives zero.</a:t>
            </a:r>
          </a:p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Standard arithmetic rules remain the reference for comparison.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49240" cy="3429000"/>
          </a:xfrm>
          <a:prstGeom prst="roundRect">
            <a:avLst/>
          </a:prstGeom>
          <a:solidFill>
            <a:srgbClr val="EFF9F4"/>
          </a:solidFill>
          <a:ln>
            <a:solidFill>
              <a:srgbClr val="BE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80060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200" b="1">
                <a:solidFill>
                  <a:srgbClr val="117952"/>
                </a:solidFill>
                <a:latin typeface="Aptos"/>
              </a:rPr>
              <a:t>Pacifique Mathematical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663440" cy="2194560"/>
          </a:xfrm>
          <a:prstGeom prst="rect">
            <a:avLst/>
          </a:prstGeom>
          <a:noFill/>
        </p:spPr>
        <p:txBody>
          <a:bodyPr wrap="square" lIns="109728" tIns="73152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Proposes interpreting certain zero operations as preservation.</a:t>
            </a:r>
          </a:p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Uses a dot to mark a preserved state after zero multiplication and/or division.</a:t>
            </a:r>
          </a:p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Is presented here as a proposed framework for exploration.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10607040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0F2A4E"/>
                </a:solidFill>
                <a:latin typeface="Aptos"/>
              </a:rPr>
              <a:t>Purpose: define the notation clearly, demonstrate examples, and compare results without presenting the proposal as established mathematics.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F6C7B"/>
                </a:solidFill>
                <a:latin typeface="Aptos"/>
              </a:rPr>
              <a:t>Pacifique Mathematical Law (2026)  •  Proposed framework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A4E"/>
          </a:solidFill>
          <a:ln>
            <a:solidFill>
              <a:srgbClr val="0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1129284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2. Core Preservation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06424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5F6C7B"/>
                </a:solidFill>
                <a:latin typeface="Aptos"/>
              </a:rPr>
              <a:t>Rules stated in the user's proposed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29000" cy="2971800"/>
          </a:xfrm>
          <a:prstGeom prst="roundRect">
            <a:avLst/>
          </a:prstGeom>
          <a:solidFill>
            <a:srgbClr val="F2F7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783080"/>
            <a:ext cx="310896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2563BE"/>
                </a:solidFill>
                <a:latin typeface="Aptos"/>
              </a:rPr>
              <a:t>Zero division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423160"/>
            <a:ext cx="31089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232D3A"/>
                </a:solidFill>
                <a:latin typeface="Aptos"/>
              </a:rPr>
              <a:t>x / 0 = 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246120"/>
            <a:ext cx="292608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5F6C7B"/>
                </a:solidFill>
                <a:latin typeface="Aptos"/>
              </a:rPr>
              <a:t>The numerator is represented as preserved.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7992" y="1508760"/>
            <a:ext cx="3429000" cy="2971800"/>
          </a:xfrm>
          <a:prstGeom prst="roundRect">
            <a:avLst/>
          </a:prstGeom>
          <a:solidFill>
            <a:srgbClr val="EFF9F4"/>
          </a:solidFill>
          <a:ln>
            <a:solidFill>
              <a:srgbClr val="BE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72583" y="1783080"/>
            <a:ext cx="310896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117952"/>
                </a:solidFill>
                <a:latin typeface="Aptos"/>
              </a:rPr>
              <a:t>Zero multiplication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583" y="2423160"/>
            <a:ext cx="31089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232D3A"/>
                </a:solidFill>
                <a:latin typeface="Aptos"/>
              </a:rPr>
              <a:t>x × 0 = 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3246120"/>
            <a:ext cx="292608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5F6C7B"/>
                </a:solidFill>
                <a:latin typeface="Aptos"/>
              </a:rPr>
              <a:t>The quantity is represented as preserved.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0183" y="1508760"/>
            <a:ext cx="3429000" cy="2971800"/>
          </a:xfrm>
          <a:prstGeom prst="roundRect">
            <a:avLst/>
          </a:prstGeom>
          <a:solidFill>
            <a:srgbClr val="F5F7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94776" y="1783080"/>
            <a:ext cx="310896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F2A4E"/>
                </a:solidFill>
                <a:latin typeface="Aptos"/>
              </a:rPr>
              <a:t>Preservation operator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4776" y="2423160"/>
            <a:ext cx="31089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232D3A"/>
                </a:solidFill>
                <a:latin typeface="Aptos"/>
              </a:rPr>
              <a:t>Πₚ(a) =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6215" y="3246120"/>
            <a:ext cx="292608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5F6C7B"/>
                </a:solidFill>
                <a:latin typeface="Aptos"/>
              </a:rPr>
              <a:t>An identity-preserving transformation.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332720" cy="7315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AB3A3A"/>
                </a:solidFill>
                <a:latin typeface="Aptos"/>
              </a:rPr>
              <a:t>These equations are the proposed axioms of the framework; they differ from standard arithmetic and require a consistent formal system to be developed.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F6C7B"/>
                </a:solidFill>
                <a:latin typeface="Aptos"/>
              </a:rPr>
              <a:t>Pacifique Mathematical Law (2026)  •  Proposed framework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A4E"/>
          </a:solidFill>
          <a:ln>
            <a:solidFill>
              <a:srgbClr val="0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1129284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3. The Dot Notation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06424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5F6C7B"/>
                </a:solidFill>
                <a:latin typeface="Aptos"/>
              </a:rPr>
              <a:t>An important convention specified by Pacifique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1325880"/>
          </a:xfrm>
          <a:prstGeom prst="roundRect">
            <a:avLst/>
          </a:prstGeom>
          <a:solidFill>
            <a:srgbClr val="EFF9F4"/>
          </a:solidFill>
          <a:ln>
            <a:solidFill>
              <a:srgbClr val="BE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1005840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117952"/>
                </a:solidFill>
                <a:latin typeface="Aptos"/>
              </a:rPr>
              <a:t>Write a dot after a number if and only if that number has been multiplied by zero and/or divided by zero under Pacifique's rules.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60120" y="3063240"/>
          <a:ext cx="10241280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Situation</a:t>
                      </a:r>
                    </a:p>
                  </a:txBody>
                  <a:tcPr marL="73152" marR="73152" marT="36576" marB="36576" anchor="ctr">
                    <a:solidFill>
                      <a:srgbClr val="0F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Notation / result</a:t>
                      </a:r>
                    </a:p>
                  </a:txBody>
                  <a:tcPr marL="73152" marR="73152" marT="36576" marB="36576" anchor="ctr">
                    <a:solidFill>
                      <a:srgbClr val="0F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Reason</a:t>
                      </a:r>
                    </a:p>
                  </a:txBody>
                  <a:tcPr marL="73152" marR="73152" marT="36576" marB="36576" anchor="ctr">
                    <a:solidFill>
                      <a:srgbClr val="0F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D3A"/>
                          </a:solidFill>
                          <a:latin typeface="Aptos"/>
                        </a:rPr>
                        <a:t>4 × 0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D3A"/>
                          </a:solidFill>
                          <a:latin typeface="Aptos"/>
                        </a:rPr>
                        <a:t>4.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D3A"/>
                          </a:solidFill>
                          <a:latin typeface="Aptos"/>
                        </a:rPr>
                        <a:t>Zero multiplication triggers preserved state.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D3A"/>
                          </a:solidFill>
                          <a:latin typeface="Aptos"/>
                        </a:rPr>
                        <a:t>4 ÷ 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D3A"/>
                          </a:solidFill>
                          <a:latin typeface="Aptos"/>
                        </a:rPr>
                        <a:t>4.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D3A"/>
                          </a:solidFill>
                          <a:latin typeface="Aptos"/>
                        </a:rPr>
                        <a:t>Zero division triggers preserved state.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D3A"/>
                          </a:solidFill>
                          <a:latin typeface="Aptos"/>
                        </a:rPr>
                        <a:t>4 + 4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D3A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D3A"/>
                          </a:solidFill>
                          <a:latin typeface="Aptos"/>
                        </a:rPr>
                        <a:t>No zero operation has occurred.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D3A"/>
                          </a:solidFill>
                          <a:latin typeface="Aptos"/>
                        </a:rPr>
                        <a:t>4 + 4.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D3A"/>
                          </a:solidFill>
                          <a:latin typeface="Aptos"/>
                        </a:rPr>
                        <a:t>8 (as stated example)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D3A"/>
                          </a:solidFill>
                          <a:latin typeface="Aptos"/>
                        </a:rPr>
                        <a:t>Addition uses the preserved quantity; dot on the result depends on whether a zero operation affected that result.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5486400"/>
            <a:ext cx="102412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0F2A4E"/>
                </a:solidFill>
                <a:latin typeface="Aptos"/>
              </a:rPr>
              <a:t>The dot is a symbolic marker, not a decimal 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F6C7B"/>
                </a:solidFill>
                <a:latin typeface="Aptos"/>
              </a:rPr>
              <a:t>Pacifique Mathematical Law (2026)  •  Proposed framework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A4E"/>
          </a:solidFill>
          <a:ln>
            <a:solidFill>
              <a:srgbClr val="0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1129284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4. Symbols and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06424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5F6C7B"/>
                </a:solidFill>
                <a:latin typeface="Aptos"/>
              </a:rPr>
              <a:t>Suggested notation from the original presentation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417320"/>
          <a:ext cx="106527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Symbol</a:t>
                      </a:r>
                    </a:p>
                  </a:txBody>
                  <a:tcPr marL="73152" marR="73152" marT="36576" marB="36576" anchor="ctr">
                    <a:solidFill>
                      <a:srgbClr val="0F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Meaning in Pacifique's framework</a:t>
                      </a:r>
                    </a:p>
                  </a:txBody>
                  <a:tcPr marL="73152" marR="73152" marT="36576" marB="36576" anchor="ctr">
                    <a:solidFill>
                      <a:srgbClr val="0F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Example</a:t>
                      </a:r>
                    </a:p>
                  </a:txBody>
                  <a:tcPr marL="73152" marR="73152" marT="36576" marB="36576" anchor="ctr">
                    <a:solidFill>
                      <a:srgbClr val="0F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x.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Preserved state; dot is not a decimal point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4 × 0 → 4.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⊘ₚ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Pacifique division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a ⊘ₚ 0 = 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⊗ₚ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Pacifique multiplication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a ⊗ₚ 0 = a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Πₚ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Preservation operator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Πₚ(a) = 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ℙ₀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Set of preserved numbers stable under Pacifique operations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Elements preserved by defined Pacifique operations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F6C7B"/>
                </a:solidFill>
                <a:latin typeface="Aptos"/>
              </a:rPr>
              <a:t>Pacifique Mathematical Law (2026)  •  Proposed framework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A4E"/>
          </a:solidFill>
          <a:ln>
            <a:solidFill>
              <a:srgbClr val="0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1129284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5. Additional Examples Supplied by Pacifique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06424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5F6C7B"/>
                </a:solidFill>
                <a:latin typeface="Aptos"/>
              </a:rPr>
              <a:t>Examples of how the notation is intended to be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25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429000" cy="566928"/>
          </a:xfrm>
          <a:prstGeom prst="rect">
            <a:avLst/>
          </a:prstGeom>
          <a:solidFill>
            <a:srgbClr val="2563BE"/>
          </a:solidFill>
          <a:ln>
            <a:solidFill>
              <a:srgbClr val="25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618488"/>
            <a:ext cx="320040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Multiplication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3154680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232D3A"/>
                </a:solidFill>
                <a:latin typeface="Aptos"/>
              </a:rPr>
              <a:t>y × x. = a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383280"/>
            <a:ext cx="2926080" cy="10058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5F6C7B"/>
                </a:solidFill>
                <a:latin typeface="Aptos"/>
              </a:rPr>
              <a:t>Example: y = 4 and x. = 4.  →  4 × 4. =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2" y="155448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117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53712" y="1554480"/>
            <a:ext cx="3429000" cy="566928"/>
          </a:xfrm>
          <a:prstGeom prst="rect">
            <a:avLst/>
          </a:prstGeom>
          <a:solidFill>
            <a:srgbClr val="117952"/>
          </a:solidFill>
          <a:ln>
            <a:solidFill>
              <a:srgbClr val="117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618488"/>
            <a:ext cx="320040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Addition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423160"/>
            <a:ext cx="3154680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232D3A"/>
                </a:solidFill>
                <a:latin typeface="Aptos"/>
              </a:rPr>
              <a:t>4 + 4. =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9744" y="3383280"/>
            <a:ext cx="2926080" cy="10058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5F6C7B"/>
                </a:solidFill>
                <a:latin typeface="Aptos"/>
              </a:rPr>
              <a:t>The preserved quantity is included in the sum.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155448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00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75904" y="1554480"/>
            <a:ext cx="3429000" cy="566928"/>
          </a:xfrm>
          <a:prstGeom prst="rect">
            <a:avLst/>
          </a:prstGeom>
          <a:solidFill>
            <a:srgbClr val="00848B"/>
          </a:solidFill>
          <a:ln>
            <a:solidFill>
              <a:srgbClr val="008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85632" y="1618488"/>
            <a:ext cx="320040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Division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4" y="2423160"/>
            <a:ext cx="3154680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232D3A"/>
                </a:solidFill>
                <a:latin typeface="Aptos"/>
              </a:rPr>
              <a:t>4 / 4. =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3383280"/>
            <a:ext cx="2926080" cy="10058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5F6C7B"/>
                </a:solidFill>
                <a:latin typeface="Aptos"/>
              </a:rPr>
              <a:t>Division by a preserved-state number, as proposed.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03520"/>
            <a:ext cx="10607040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AB3A3A"/>
                </a:solidFill>
                <a:latin typeface="Aptos"/>
              </a:rPr>
              <a:t>These are definitions/examples within the proposed system; the operation rules need formal specifications for all inputs.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F6C7B"/>
                </a:solidFill>
                <a:latin typeface="Aptos"/>
              </a:rPr>
              <a:t>Pacifique Mathematical Law (2026)  •  Proposed framework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A4E"/>
          </a:solidFill>
          <a:ln>
            <a:solidFill>
              <a:srgbClr val="0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1129284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6. Worked Example: f(x) = 2x² + 2x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06424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5F6C7B"/>
                </a:solidFill>
                <a:latin typeface="Aptos"/>
              </a:rPr>
              <a:t>Compare the two methods at x = 0 using the user's stated procedure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394960" cy="4343400"/>
          </a:xfrm>
          <a:prstGeom prst="roundRect">
            <a:avLst/>
          </a:prstGeom>
          <a:solidFill>
            <a:srgbClr val="F2F7FC"/>
          </a:solidFill>
          <a:ln>
            <a:solidFill>
              <a:srgbClr val="CF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84632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2563BE"/>
                </a:solidFill>
                <a:latin typeface="Aptos"/>
              </a:rPr>
              <a:t>Classical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754880" cy="5943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232D3A"/>
                </a:solidFill>
                <a:latin typeface="Aptos"/>
              </a:rPr>
              <a:t>2(0)² + 2(0) + 1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80360"/>
            <a:ext cx="4846320" cy="9144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2563BE"/>
                </a:solidFill>
                <a:latin typeface="Aptos"/>
              </a:rPr>
              <a:t>= 0 + 0 + 1
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51960"/>
            <a:ext cx="4572000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F2A4E"/>
                </a:solidFill>
                <a:latin typeface="Aptos"/>
              </a:rPr>
              <a:t>Classical result: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257800" cy="4343400"/>
          </a:xfrm>
          <a:prstGeom prst="roundRect">
            <a:avLst/>
          </a:prstGeom>
          <a:solidFill>
            <a:srgbClr val="EFF9F4"/>
          </a:solidFill>
          <a:ln>
            <a:solidFill>
              <a:srgbClr val="BE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600200"/>
            <a:ext cx="4709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117952"/>
                </a:solidFill>
                <a:latin typeface="Aptos"/>
              </a:rPr>
              <a:t>Pacifique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4572000" cy="5943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232D3A"/>
                </a:solidFill>
                <a:latin typeface="Aptos"/>
              </a:rPr>
              <a:t>2·0² + 2·0 + 1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880360"/>
            <a:ext cx="4663440" cy="9144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117952"/>
                </a:solidFill>
                <a:latin typeface="Aptos"/>
              </a:rPr>
              <a:t>= 2·0 + 2·0 + 1
= 2. + 2. + 1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51960"/>
            <a:ext cx="4480560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 dirty="0">
                <a:solidFill>
                  <a:srgbClr val="117952"/>
                </a:solidFill>
                <a:latin typeface="Aptos"/>
              </a:rPr>
              <a:t>Pacifique result: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897880"/>
            <a:ext cx="102412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5F6C7B"/>
                </a:solidFill>
                <a:latin typeface="Aptos"/>
              </a:rPr>
              <a:t>The Pacifique calculation follows the specific worked example supplied by the author.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F6C7B"/>
                </a:solidFill>
                <a:latin typeface="Aptos"/>
              </a:rPr>
              <a:t>Pacifique Mathematical Law (2026)  •  Proposed framework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A4E"/>
          </a:solidFill>
          <a:ln>
            <a:solidFill>
              <a:srgbClr val="0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1129284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7. Worked Example at x =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06424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5F6C7B"/>
                </a:solidFill>
                <a:latin typeface="Aptos"/>
              </a:rPr>
              <a:t>For this input, no multiplication by zero is triggered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5029200" cy="3291840"/>
          </a:xfrm>
          <a:prstGeom prst="roundRect">
            <a:avLst/>
          </a:prstGeom>
          <a:solidFill>
            <a:srgbClr val="F2F7FC"/>
          </a:solidFill>
          <a:ln>
            <a:solidFill>
              <a:srgbClr val="CF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457200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2563BE"/>
                </a:solidFill>
                <a:latin typeface="Aptos"/>
              </a:rPr>
              <a:t>Classical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4480560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232D3A"/>
                </a:solidFill>
                <a:latin typeface="Aptos"/>
              </a:rPr>
              <a:t>2(2)² + 2(2) + 1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4480560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2563BE"/>
                </a:solidFill>
                <a:latin typeface="Aptos"/>
              </a:rPr>
              <a:t>= 8 + 4 + 1
=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08760"/>
            <a:ext cx="5029200" cy="3291840"/>
          </a:xfrm>
          <a:prstGeom prst="roundRect">
            <a:avLst/>
          </a:prstGeom>
          <a:solidFill>
            <a:srgbClr val="EFF9F4"/>
          </a:solidFill>
          <a:ln>
            <a:solidFill>
              <a:srgbClr val="BE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457200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117952"/>
                </a:solidFill>
                <a:latin typeface="Aptos"/>
              </a:rPr>
              <a:t>Pacifique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14600"/>
            <a:ext cx="4480560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232D3A"/>
                </a:solidFill>
                <a:latin typeface="Aptos"/>
              </a:rPr>
              <a:t>2(2)² + 2(2) + 1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337560"/>
            <a:ext cx="4480560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117952"/>
                </a:solidFill>
                <a:latin typeface="Aptos"/>
              </a:rPr>
              <a:t>= 8 + 4 + 1
=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10424160" cy="5943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F2A4E"/>
                </a:solidFill>
                <a:latin typeface="Aptos"/>
              </a:rPr>
              <a:t>Result at x = 2: both methods give 13 in this example.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F6C7B"/>
                </a:solidFill>
                <a:latin typeface="Aptos"/>
              </a:rPr>
              <a:t>Pacifique Mathematical Law (2026)  •  Proposed framework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A4E"/>
          </a:solidFill>
          <a:ln>
            <a:solidFill>
              <a:srgbClr val="0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1129284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8. Graph Comparison for f(x) = 2x² + 2x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06424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5F6C7B"/>
                </a:solidFill>
                <a:latin typeface="Aptos"/>
              </a:rPr>
              <a:t>Discrete values for x = 0, 1, 2, 3, 4, 5 using the author's worked convention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1732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17920" y="1417320"/>
          <a:ext cx="54406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0F2A4E"/>
                </a:solidFill>
                <a:latin typeface="Aptos"/>
              </a:rPr>
              <a:t>Values: classical = 1, 5, 13, 25, 41, 61  |  Pacifique = 5, 5, 13, 25, 41, 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F6C7B"/>
                </a:solidFill>
                <a:latin typeface="Aptos"/>
              </a:rPr>
              <a:t>Pacifique Mathematical Law (2026)  •  Proposed framework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A4E"/>
          </a:solidFill>
          <a:ln>
            <a:solidFill>
              <a:srgbClr val="0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1129284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9. Values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06424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5F6C7B"/>
                </a:solidFill>
                <a:latin typeface="Aptos"/>
              </a:rPr>
              <a:t>The only difference in this worked set is at x = 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51560" y="1508760"/>
          <a:ext cx="93268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x</a:t>
                      </a:r>
                    </a:p>
                  </a:txBody>
                  <a:tcPr marL="73152" marR="73152" marT="36576" marB="36576" anchor="ctr">
                    <a:solidFill>
                      <a:srgbClr val="0F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Classical result</a:t>
                      </a:r>
                    </a:p>
                  </a:txBody>
                  <a:tcPr marL="73152" marR="73152" marT="36576" marB="36576" anchor="ctr">
                    <a:solidFill>
                      <a:srgbClr val="0F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Pacifique result</a:t>
                      </a:r>
                    </a:p>
                  </a:txBody>
                  <a:tcPr marL="73152" marR="73152" marT="36576" marB="36576" anchor="ctr">
                    <a:solidFill>
                      <a:srgbClr val="0F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Difference</a:t>
                      </a:r>
                    </a:p>
                  </a:txBody>
                  <a:tcPr marL="73152" marR="73152" marT="36576" marB="36576" anchor="ctr">
                    <a:solidFill>
                      <a:srgbClr val="0F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+4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41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41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61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61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D3A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394960"/>
            <a:ext cx="10332720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AB3A3A"/>
                </a:solidFill>
                <a:latin typeface="Aptos"/>
              </a:rPr>
              <a:t>This table follows the particular evaluation procedure shown in the presentation; it is not a proof that the proposed rules are consistent with all standard algebraic laws.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F6C7B"/>
                </a:solidFill>
                <a:latin typeface="Aptos"/>
              </a:rPr>
              <a:t>Pacifique Mathematical Law (2026)  •  Proposed framework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A4E"/>
          </a:solidFill>
          <a:ln>
            <a:solidFill>
              <a:srgbClr val="0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1129284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10. Classical Mathematics vs. Pacifique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06424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5F6C7B"/>
                </a:solidFill>
                <a:latin typeface="Aptos"/>
              </a:rPr>
              <a:t>A clear comparison of the assumptions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371600"/>
          <a:ext cx="1065275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Topic</a:t>
                      </a:r>
                    </a:p>
                  </a:txBody>
                  <a:tcPr marL="73152" marR="73152" marT="36576" marB="36576" anchor="ctr">
                    <a:solidFill>
                      <a:srgbClr val="0F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Classical mathematics</a:t>
                      </a:r>
                    </a:p>
                  </a:txBody>
                  <a:tcPr marL="73152" marR="73152" marT="36576" marB="36576" anchor="ctr">
                    <a:solidFill>
                      <a:srgbClr val="0F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Pacifique proposed framework</a:t>
                      </a:r>
                    </a:p>
                  </a:txBody>
                  <a:tcPr marL="73152" marR="73152" marT="36576" marB="36576" anchor="ctr">
                    <a:solidFill>
                      <a:srgbClr val="0F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x × 0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x. (preserved state, as proposed)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x / 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Undefined in ordinary arithmetic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x. (preserved state, as proposed)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Dot notation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Not used for this purpose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Dot marks a number affected by zero multiplication and/or division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Polynomial example at x = 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5, using the author's stated procedure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Established standard arithmetic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D3A"/>
                          </a:solidFill>
                          <a:latin typeface="Aptos"/>
                        </a:rPr>
                        <a:t>A proposed framework requiring formal development</a:t>
                      </a:r>
                    </a:p>
                  </a:txBody>
                  <a:tcPr marL="73152" marR="73152" marT="36576" marB="36576" anchor="ctr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F6C7B"/>
                </a:solidFill>
                <a:latin typeface="Aptos"/>
              </a:rPr>
              <a:t>Pacifique Mathematical Law (2026)  •  Proposed framework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A4E"/>
          </a:solidFill>
          <a:ln>
            <a:solidFill>
              <a:srgbClr val="0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1129284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11. Research Areas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06424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5F6C7B"/>
                </a:solidFill>
                <a:latin typeface="Aptos"/>
              </a:rPr>
              <a:t>Potential directions identified in the original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4937760" cy="4297680"/>
          </a:xfrm>
          <a:prstGeom prst="rect">
            <a:avLst/>
          </a:prstGeom>
          <a:noFill/>
        </p:spPr>
        <p:txBody>
          <a:bodyPr wrap="square" lIns="109728" tIns="73152" r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Abstract algebra and symbolic mathematics</a:t>
            </a:r>
          </a:p>
          <a:p>
            <a:pPr>
              <a:spcAft>
                <a:spcPts val="8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Computational theory and computational mathematics</a:t>
            </a:r>
          </a:p>
          <a:p>
            <a:pPr>
              <a:spcAft>
                <a:spcPts val="8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Applied mathematics and mathematical modelling</a:t>
            </a:r>
          </a:p>
          <a:p>
            <a:pPr>
              <a:spcAft>
                <a:spcPts val="8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Mathematical philosophy</a:t>
            </a:r>
          </a:p>
          <a:p>
            <a:pPr>
              <a:spcAft>
                <a:spcPts val="8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Theoretical physics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66360" cy="4114800"/>
          </a:xfrm>
          <a:prstGeom prst="roundRect">
            <a:avLst/>
          </a:prstGeom>
          <a:solidFill>
            <a:srgbClr val="EFF9F4"/>
          </a:solidFill>
          <a:ln>
            <a:solidFill>
              <a:srgbClr val="BE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61772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117952"/>
                </a:solidFill>
                <a:latin typeface="Aptos"/>
              </a:rPr>
              <a:t>Next steps for formal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331720"/>
            <a:ext cx="4526280" cy="2834640"/>
          </a:xfrm>
          <a:prstGeom prst="rect">
            <a:avLst/>
          </a:prstGeom>
          <a:noFill/>
        </p:spPr>
        <p:txBody>
          <a:bodyPr wrap="square" lIns="109728" t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•  Define every operation precisely.</a:t>
            </a:r>
          </a:p>
          <a:p>
            <a:pPr>
              <a:spcAft>
                <a:spcPts val="8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•  Specify when the dot is attached and how it propagates.</a:t>
            </a:r>
          </a:p>
          <a:p>
            <a:pPr>
              <a:spcAft>
                <a:spcPts val="8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•  Test consistency with algebraic identities.</a:t>
            </a:r>
          </a:p>
          <a:p>
            <a:pPr>
              <a:spcAft>
                <a:spcPts val="8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•  Provide proofs and worked examples.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F6C7B"/>
                </a:solidFill>
                <a:latin typeface="Aptos"/>
              </a:rPr>
              <a:t>Pacifique Mathematical Law (2026)  •  Proposed framework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E"/>
          </a:solidFill>
          <a:ln>
            <a:solidFill>
              <a:srgbClr val="0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54480"/>
            <a:ext cx="1005840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0F2A4E"/>
                </a:solidFill>
                <a:latin typeface="Aptos"/>
              </a:rPr>
              <a:t>Pacifique Mathematical Law proposes a preservation-based interpretation of zero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10332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2971800"/>
            <a:ext cx="969264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117952"/>
                </a:solidFill>
                <a:latin typeface="Aptos"/>
              </a:rPr>
              <a:t>Zero operations are treated as preservation operations, with the dot (.) marking a preserved state only when the stated zero-operation condition applies.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10149840" cy="5943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0F2A4E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332720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5F6C7B"/>
                </a:solidFill>
                <a:latin typeface="Aptos"/>
              </a:rPr>
              <a:t>Pacifique TUYISENGE  •  University of Rwanda  •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29284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F6C7B"/>
                </a:solidFill>
                <a:latin typeface="Aptos"/>
              </a:rPr>
              <a:t>Pacifique Mathematical Law (2026)  •  Proposed framework  •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1171</Words>
  <Application>Microsoft Office PowerPoint</Application>
  <PresentationFormat>Widescreen</PresentationFormat>
  <Paragraphs>191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paccy</dc:creator>
  <cp:keywords/>
  <dc:description>generated using python-pptx</dc:description>
  <cp:lastModifiedBy>Tuyisenge pacifique</cp:lastModifiedBy>
  <cp:revision>1</cp:revision>
  <dcterms:created xsi:type="dcterms:W3CDTF">2013-01-27T09:14:16Z</dcterms:created>
  <dcterms:modified xsi:type="dcterms:W3CDTF">2026-10-28T20:27:25Z</dcterms:modified>
  <cp:category/>
</cp:coreProperties>
</file>